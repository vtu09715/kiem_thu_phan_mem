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7" d="100"/>
          <a:sy n="77" d="100"/>
        </p:scale>
        <p:origin x="883"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101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6713" y="616226"/>
            <a:ext cx="11280913" cy="4247317"/>
          </a:xfrm>
          <a:prstGeom prst="rect">
            <a:avLst/>
          </a:prstGeom>
          <a:noFill/>
        </p:spPr>
        <p:txBody>
          <a:bodyPr wrap="square">
            <a:spAutoFit/>
          </a:bodyPr>
          <a:lstStyle/>
          <a:p>
            <a:pPr algn="l">
              <a:defRPr sz="3800" b="1">
                <a:solidFill>
                  <a:srgbClr val="FFFFFF"/>
                </a:solidFill>
                <a:latin typeface="Segoe UI"/>
              </a:defRPr>
            </a:pPr>
            <a:r>
              <a:rPr sz="5400"/>
              <a:t>SỬ DỤNG TEST DOUBLES</a:t>
            </a:r>
            <a:br>
              <a:rPr sz="5400"/>
            </a:br>
            <a:r>
              <a:rPr sz="5400"/>
              <a:t>CÔ LẬP PHỤ THUỘC TRONG KIỂM THỬ ĐƠN VỊ</a:t>
            </a:r>
          </a:p>
          <a:p>
            <a:br>
              <a:rPr sz="5400"/>
            </a:br>
            <a:endParaRPr sz="5400"/>
          </a:p>
        </p:txBody>
      </p:sp>
      <p:sp>
        <p:nvSpPr>
          <p:cNvPr id="4" name="TextBox 3"/>
          <p:cNvSpPr txBox="1"/>
          <p:nvPr/>
        </p:nvSpPr>
        <p:spPr>
          <a:xfrm>
            <a:off x="824948" y="3870935"/>
            <a:ext cx="5464829" cy="1953868"/>
          </a:xfrm>
          <a:prstGeom prst="rect">
            <a:avLst/>
          </a:prstGeom>
          <a:noFill/>
        </p:spPr>
        <p:txBody>
          <a:bodyPr wrap="none">
            <a:spAutoFit/>
          </a:bodyPr>
          <a:lstStyle/>
          <a:p>
            <a:pPr>
              <a:lnSpc>
                <a:spcPct val="150000"/>
              </a:lnSpc>
              <a:defRPr sz="1400">
                <a:solidFill>
                  <a:srgbClr val="ADB5BD"/>
                </a:solidFill>
                <a:latin typeface="Segoe UI"/>
              </a:defRPr>
            </a:pPr>
            <a:r>
              <a:rPr lang="en-US" sz="2800">
                <a:latin typeface="Times New Roman" panose="02020603050405020304" pitchFamily="18" charset="0"/>
                <a:cs typeface="Times New Roman" panose="02020603050405020304" pitchFamily="18" charset="0"/>
              </a:rPr>
              <a:t>VŨ ĐỨC TÚ – K225480106068 </a:t>
            </a:r>
          </a:p>
          <a:p>
            <a:pPr>
              <a:lnSpc>
                <a:spcPct val="150000"/>
              </a:lnSpc>
              <a:defRPr sz="1400">
                <a:solidFill>
                  <a:srgbClr val="ADB5BD"/>
                </a:solidFill>
                <a:latin typeface="Segoe UI"/>
              </a:defRPr>
            </a:pPr>
            <a:r>
              <a:rPr lang="en-US" sz="2800">
                <a:latin typeface="Times New Roman" panose="02020603050405020304" pitchFamily="18" charset="0"/>
                <a:cs typeface="Times New Roman" panose="02020603050405020304" pitchFamily="18" charset="0"/>
              </a:rPr>
              <a:t>LỚP: K58.KTP</a:t>
            </a:r>
          </a:p>
          <a:p>
            <a:pPr>
              <a:lnSpc>
                <a:spcPct val="150000"/>
              </a:lnSpc>
              <a:defRPr sz="1400">
                <a:solidFill>
                  <a:srgbClr val="ADB5BD"/>
                </a:solidFill>
                <a:latin typeface="Segoe UI"/>
              </a:defRPr>
            </a:pPr>
            <a:r>
              <a:rPr lang="en-US" sz="2800">
                <a:latin typeface="Times New Roman" panose="02020603050405020304" pitchFamily="18" charset="0"/>
                <a:cs typeface="Times New Roman" panose="02020603050405020304" pitchFamily="18" charset="0"/>
              </a:rPr>
              <a:t>GVHD: TS NGUYỄN TUẤN LINH</a:t>
            </a:r>
            <a:endParaRPr sz="280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8655" cy="731520"/>
          </a:xfrm>
          <a:prstGeom prst="rect">
            <a:avLst/>
          </a:prstGeom>
          <a:noFill/>
        </p:spPr>
        <p:txBody>
          <a:bodyPr wrap="square" lIns="0" tIns="0" rIns="0" bIns="0">
            <a:spAutoFit/>
          </a:bodyPr>
          <a:lstStyle/>
          <a:p>
            <a:pPr>
              <a:defRPr sz="3200" b="1">
                <a:solidFill>
                  <a:srgbClr val="212B36"/>
                </a:solidFill>
                <a:latin typeface="Segoe UI"/>
              </a:defRPr>
            </a:pPr>
            <a:r>
              <a:t>Đặt Vấn Đề &amp; Lý Do Chọn Đề Tài</a:t>
            </a:r>
          </a:p>
        </p:txBody>
      </p:sp>
      <p:sp>
        <p:nvSpPr>
          <p:cNvPr id="4" name="Rectangle 3"/>
          <p:cNvSpPr/>
          <p:nvPr/>
        </p:nvSpPr>
        <p:spPr>
          <a:xfrm>
            <a:off x="731520" y="1188720"/>
            <a:ext cx="1371600" cy="36576"/>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645920"/>
            <a:ext cx="10728655" cy="3798476"/>
          </a:xfrm>
          <a:prstGeom prst="rect">
            <a:avLst/>
          </a:prstGeom>
          <a:noFill/>
        </p:spPr>
        <p:txBody>
          <a:bodyPr wrap="square">
            <a:spAutoFit/>
          </a:bodyPr>
          <a:lstStyle/>
          <a:p>
            <a:endParaRPr/>
          </a:p>
          <a:p>
            <a:pPr>
              <a:lnSpc>
                <a:spcPct val="150000"/>
              </a:lnSpc>
              <a:spcAft>
                <a:spcPts val="1200"/>
              </a:spcAft>
            </a:pPr>
            <a:r>
              <a:rPr sz="1800" b="1">
                <a:solidFill>
                  <a:srgbClr val="212B36"/>
                </a:solidFill>
                <a:latin typeface="Segoe UI"/>
              </a:rPr>
              <a:t>• Sự phụ thuộc hạ tầng: </a:t>
            </a:r>
            <a:r>
              <a:rPr sz="1700">
                <a:solidFill>
                  <a:srgbClr val="637381"/>
                </a:solidFill>
                <a:latin typeface="Segoe UI"/>
              </a:rPr>
              <a:t>Các Service thường phụ thuộc vào CSDL thật, Email API, và bên thứ ba.</a:t>
            </a:r>
          </a:p>
          <a:p>
            <a:pPr>
              <a:lnSpc>
                <a:spcPct val="150000"/>
              </a:lnSpc>
              <a:spcAft>
                <a:spcPts val="1200"/>
              </a:spcAft>
            </a:pPr>
            <a:r>
              <a:rPr sz="1800" b="1">
                <a:solidFill>
                  <a:srgbClr val="212B36"/>
                </a:solidFill>
                <a:latin typeface="Segoe UI"/>
              </a:rPr>
              <a:t>• Tốc độ thực thi chậm: </a:t>
            </a:r>
            <a:r>
              <a:rPr sz="1700">
                <a:solidFill>
                  <a:srgbClr val="637381"/>
                </a:solidFill>
                <a:latin typeface="Segoe UI"/>
              </a:rPr>
              <a:t>Kết nối I/O thực tế tốn hàng trăm mili-giây, khiến bộ test phình to và chậm chạp.</a:t>
            </a:r>
          </a:p>
          <a:p>
            <a:pPr>
              <a:lnSpc>
                <a:spcPct val="150000"/>
              </a:lnSpc>
              <a:spcAft>
                <a:spcPts val="1200"/>
              </a:spcAft>
            </a:pPr>
            <a:r>
              <a:rPr sz="1800" b="1">
                <a:solidFill>
                  <a:srgbClr val="212B36"/>
                </a:solidFill>
                <a:latin typeface="Segoe UI"/>
              </a:rPr>
              <a:t>• Môi trường không ổn định (Flaky Tests): </a:t>
            </a:r>
            <a:r>
              <a:rPr sz="1700">
                <a:solidFill>
                  <a:srgbClr val="637381"/>
                </a:solidFill>
                <a:latin typeface="Segoe UI"/>
              </a:rPr>
              <a:t>Lỗi mạng, bảo trì CSDL làm bài test thất bại ngẫu nhiên dù code nghiệp vụ đúng.</a:t>
            </a:r>
          </a:p>
          <a:p>
            <a:pPr>
              <a:lnSpc>
                <a:spcPct val="150000"/>
              </a:lnSpc>
              <a:spcAft>
                <a:spcPts val="1200"/>
              </a:spcAft>
            </a:pPr>
            <a:r>
              <a:rPr sz="1800" b="1">
                <a:solidFill>
                  <a:srgbClr val="212B36"/>
                </a:solidFill>
                <a:latin typeface="Segoe UI"/>
              </a:rPr>
              <a:t>• Ô nhiễm dữ liệu (Data Pollution): </a:t>
            </a:r>
            <a:r>
              <a:rPr sz="1700">
                <a:solidFill>
                  <a:srgbClr val="637381"/>
                </a:solidFill>
                <a:latin typeface="Segoe UI"/>
              </a:rPr>
              <a:t>Các test case ghi đè dữ liệu lên nhau trong DB chung, khó bảo trì.</a:t>
            </a:r>
          </a:p>
          <a:p>
            <a:pPr>
              <a:lnSpc>
                <a:spcPct val="150000"/>
              </a:lnSpc>
              <a:spcAft>
                <a:spcPts val="1200"/>
              </a:spcAft>
            </a:pPr>
            <a:r>
              <a:rPr sz="1800" b="1">
                <a:solidFill>
                  <a:srgbClr val="212B36"/>
                </a:solidFill>
                <a:latin typeface="Segoe UI"/>
              </a:rPr>
              <a:t>• Giải pháp cô lập: </a:t>
            </a:r>
            <a:r>
              <a:rPr sz="1700">
                <a:solidFill>
                  <a:srgbClr val="637381"/>
                </a:solidFill>
                <a:latin typeface="Segoe UI"/>
              </a:rPr>
              <a:t>Sử dụng các đối tượng thế thân (Test Doubles) thay thế phụ thuộc thật, giải phóng môi trường.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8655" cy="731520"/>
          </a:xfrm>
          <a:prstGeom prst="rect">
            <a:avLst/>
          </a:prstGeom>
          <a:noFill/>
        </p:spPr>
        <p:txBody>
          <a:bodyPr wrap="square" lIns="0" tIns="0" rIns="0" bIns="0">
            <a:spAutoFit/>
          </a:bodyPr>
          <a:lstStyle/>
          <a:p>
            <a:pPr>
              <a:defRPr sz="3200" b="1">
                <a:solidFill>
                  <a:srgbClr val="212B36"/>
                </a:solidFill>
                <a:latin typeface="Segoe UI"/>
              </a:defRPr>
            </a:pPr>
            <a:r>
              <a:t>Khái Niệm Test Double Là Gì?</a:t>
            </a:r>
          </a:p>
        </p:txBody>
      </p:sp>
      <p:sp>
        <p:nvSpPr>
          <p:cNvPr id="4" name="Rectangle 3"/>
          <p:cNvSpPr/>
          <p:nvPr/>
        </p:nvSpPr>
        <p:spPr>
          <a:xfrm>
            <a:off x="731520" y="1188720"/>
            <a:ext cx="1371600" cy="36576"/>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645920"/>
            <a:ext cx="10728655" cy="1371600"/>
          </a:xfrm>
          <a:prstGeom prst="rect">
            <a:avLst/>
          </a:prstGeom>
          <a:noFill/>
        </p:spPr>
        <p:txBody>
          <a:bodyPr wrap="square">
            <a:spAutoFit/>
          </a:bodyPr>
          <a:lstStyle/>
          <a:p>
            <a:pPr>
              <a:defRPr sz="1800" b="1">
                <a:solidFill>
                  <a:srgbClr val="0066CC"/>
                </a:solidFill>
                <a:latin typeface="Segoe UI"/>
              </a:defRPr>
            </a:pPr>
            <a:r>
              <a:t>Thuật ngữ được giới thiệu bởi Gerard Meszaros trong cuốn xUnit Test Patterns (2007).</a:t>
            </a:r>
          </a:p>
          <a:p>
            <a:pPr>
              <a:spcBef>
                <a:spcPts val="800"/>
              </a:spcBef>
              <a:defRPr sz="1700">
                <a:solidFill>
                  <a:srgbClr val="212B36"/>
                </a:solidFill>
                <a:latin typeface="Segoe UI"/>
              </a:defRPr>
            </a:pPr>
            <a:r>
              <a:t>Test Double tương tự như diễn viên đóng thế (stunt double) trong điện ảnh. Khi chạy unit test, ta thay thế phụ thuộc thật (như DB, Email) bằng một phiên bản giả lập có giao diện giống hệt nhưng hành vi được kiểm soát hoàn toàn.</a:t>
            </a:r>
          </a:p>
        </p:txBody>
      </p:sp>
      <p:sp>
        <p:nvSpPr>
          <p:cNvPr id="6" name="Rounded Rectangle 5"/>
          <p:cNvSpPr/>
          <p:nvPr/>
        </p:nvSpPr>
        <p:spPr>
          <a:xfrm>
            <a:off x="1371600" y="3840480"/>
            <a:ext cx="2743200" cy="1371600"/>
          </a:xfrm>
          <a:prstGeom prst="roundRect">
            <a:avLst/>
          </a:prstGeom>
          <a:solidFill>
            <a:srgbClr val="E6F2FF"/>
          </a:solidFill>
          <a:ln w="25400">
            <a:solidFill>
              <a:srgbClr val="0066C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212B36"/>
                </a:solidFill>
              </a:defRPr>
            </a:pPr>
            <a:r>
              <a:t>System Under Test</a:t>
            </a:r>
            <a:br/>
            <a:r>
              <a:t>(SUT)</a:t>
            </a:r>
            <a:br/>
            <a:br/>
            <a:r>
              <a:t>UserService</a:t>
            </a:r>
          </a:p>
        </p:txBody>
      </p:sp>
      <p:sp>
        <p:nvSpPr>
          <p:cNvPr id="7" name="Right Arrow 6"/>
          <p:cNvSpPr/>
          <p:nvPr/>
        </p:nvSpPr>
        <p:spPr>
          <a:xfrm>
            <a:off x="4389120" y="4297680"/>
            <a:ext cx="1097280" cy="457200"/>
          </a:xfrm>
          <a:prstGeom prst="rightArrow">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760720" y="3840480"/>
            <a:ext cx="4114800" cy="1371600"/>
          </a:xfrm>
          <a:prstGeom prst="roundRect">
            <a:avLst/>
          </a:prstGeom>
          <a:solidFill>
            <a:srgbClr val="EBF7EB"/>
          </a:solidFill>
          <a:ln w="25400">
            <a:solidFill>
              <a:srgbClr val="28A74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28A745"/>
                </a:solidFill>
              </a:defRPr>
            </a:pPr>
            <a:r>
              <a:t>Test Double</a:t>
            </a:r>
            <a:br/>
            <a:r>
              <a:t>(Dummy / Fake / Stub / Mock)</a:t>
            </a:r>
            <a:br/>
            <a:br/>
            <a:r>
              <a:t>Lưu trữ tạm trên RAM / Trả về cứng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8655" cy="731520"/>
          </a:xfrm>
          <a:prstGeom prst="rect">
            <a:avLst/>
          </a:prstGeom>
          <a:noFill/>
        </p:spPr>
        <p:txBody>
          <a:bodyPr wrap="square" lIns="0" tIns="0" rIns="0" bIns="0">
            <a:spAutoFit/>
          </a:bodyPr>
          <a:lstStyle/>
          <a:p>
            <a:pPr>
              <a:defRPr sz="3200" b="1">
                <a:solidFill>
                  <a:srgbClr val="212B36"/>
                </a:solidFill>
                <a:latin typeface="Segoe UI"/>
              </a:defRPr>
            </a:pPr>
            <a:r>
              <a:t>Phân Loại &amp; So Sánh Bốn Loại Test Doubles</a:t>
            </a:r>
          </a:p>
        </p:txBody>
      </p:sp>
      <p:sp>
        <p:nvSpPr>
          <p:cNvPr id="4" name="Rectangle 3"/>
          <p:cNvSpPr/>
          <p:nvPr/>
        </p:nvSpPr>
        <p:spPr>
          <a:xfrm>
            <a:off x="731520" y="1188720"/>
            <a:ext cx="1371600" cy="36576"/>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731520" y="1645920"/>
          <a:ext cx="10698480" cy="411480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3474720">
                  <a:extLst>
                    <a:ext uri="{9D8B030D-6E8A-4147-A177-3AD203B41FA5}">
                      <a16:colId xmlns:a16="http://schemas.microsoft.com/office/drawing/2014/main" val="20003"/>
                    </a:ext>
                  </a:extLst>
                </a:gridCol>
              </a:tblGrid>
              <a:tr h="822960">
                <a:tc>
                  <a:txBody>
                    <a:bodyPr/>
                    <a:lstStyle/>
                    <a:p>
                      <a:pPr algn="ctr">
                        <a:defRPr sz="1500" b="1">
                          <a:solidFill>
                            <a:srgbClr val="FFFFFF"/>
                          </a:solidFill>
                        </a:defRPr>
                      </a:pPr>
                      <a:r>
                        <a:t>Loại</a:t>
                      </a:r>
                    </a:p>
                  </a:txBody>
                  <a:tcPr>
                    <a:solidFill>
                      <a:srgbClr val="0066CC"/>
                    </a:solidFill>
                  </a:tcPr>
                </a:tc>
                <a:tc>
                  <a:txBody>
                    <a:bodyPr/>
                    <a:lstStyle/>
                    <a:p>
                      <a:pPr algn="ctr">
                        <a:defRPr sz="1500" b="1">
                          <a:solidFill>
                            <a:srgbClr val="FFFFFF"/>
                          </a:solidFill>
                        </a:defRPr>
                      </a:pPr>
                      <a:r>
                        <a:t>Mục đích sử dụng chính</a:t>
                      </a:r>
                    </a:p>
                  </a:txBody>
                  <a:tcPr>
                    <a:solidFill>
                      <a:srgbClr val="0066CC"/>
                    </a:solidFill>
                  </a:tcPr>
                </a:tc>
                <a:tc>
                  <a:txBody>
                    <a:bodyPr/>
                    <a:lstStyle/>
                    <a:p>
                      <a:pPr algn="ctr">
                        <a:defRPr sz="1500" b="1">
                          <a:solidFill>
                            <a:srgbClr val="FFFFFF"/>
                          </a:solidFill>
                        </a:defRPr>
                      </a:pPr>
                      <a:r>
                        <a:t>Chứa logic?</a:t>
                      </a:r>
                    </a:p>
                  </a:txBody>
                  <a:tcPr>
                    <a:solidFill>
                      <a:srgbClr val="0066CC"/>
                    </a:solidFill>
                  </a:tcPr>
                </a:tc>
                <a:tc>
                  <a:txBody>
                    <a:bodyPr/>
                    <a:lstStyle/>
                    <a:p>
                      <a:pPr algn="ctr">
                        <a:defRPr sz="1500" b="1">
                          <a:solidFill>
                            <a:srgbClr val="FFFFFF"/>
                          </a:solidFill>
                        </a:defRPr>
                      </a:pPr>
                      <a:r>
                        <a:t>Kiểu kiểm chứng (Verification)</a:t>
                      </a:r>
                    </a:p>
                  </a:txBody>
                  <a:tcPr>
                    <a:solidFill>
                      <a:srgbClr val="0066CC"/>
                    </a:solidFill>
                  </a:tcPr>
                </a:tc>
                <a:extLst>
                  <a:ext uri="{0D108BD9-81ED-4DB2-BD59-A6C34878D82A}">
                    <a16:rowId xmlns:a16="http://schemas.microsoft.com/office/drawing/2014/main" val="10000"/>
                  </a:ext>
                </a:extLst>
              </a:tr>
              <a:tr h="822960">
                <a:tc>
                  <a:txBody>
                    <a:bodyPr/>
                    <a:lstStyle/>
                    <a:p>
                      <a:pPr algn="ctr">
                        <a:defRPr sz="1400" b="1">
                          <a:solidFill>
                            <a:srgbClr val="212B36"/>
                          </a:solidFill>
                        </a:defRPr>
                      </a:pPr>
                      <a:r>
                        <a:t>Dummy</a:t>
                      </a:r>
                    </a:p>
                  </a:txBody>
                  <a:tcPr>
                    <a:solidFill>
                      <a:srgbClr val="FFFFFF"/>
                    </a:solidFill>
                  </a:tcPr>
                </a:tc>
                <a:tc>
                  <a:txBody>
                    <a:bodyPr/>
                    <a:lstStyle/>
                    <a:p>
                      <a:pPr>
                        <a:defRPr sz="1400">
                          <a:solidFill>
                            <a:srgbClr val="212B36"/>
                          </a:solidFill>
                        </a:defRPr>
                      </a:pPr>
                      <a:r>
                        <a:t>Được truyền vào để thỏa mãn tham số (constructor) mà không bao giờ được gọi thực tế.</a:t>
                      </a:r>
                    </a:p>
                  </a:txBody>
                  <a:tcPr>
                    <a:solidFill>
                      <a:srgbClr val="FFFFFF"/>
                    </a:solidFill>
                  </a:tcPr>
                </a:tc>
                <a:tc>
                  <a:txBody>
                    <a:bodyPr/>
                    <a:lstStyle/>
                    <a:p>
                      <a:pPr algn="ctr">
                        <a:defRPr sz="1400">
                          <a:solidFill>
                            <a:srgbClr val="212B36"/>
                          </a:solidFill>
                        </a:defRPr>
                      </a:pPr>
                      <a:r>
                        <a:t>Không</a:t>
                      </a:r>
                    </a:p>
                  </a:txBody>
                  <a:tcPr>
                    <a:solidFill>
                      <a:srgbClr val="FFFFFF"/>
                    </a:solidFill>
                  </a:tcPr>
                </a:tc>
                <a:tc>
                  <a:txBody>
                    <a:bodyPr/>
                    <a:lstStyle/>
                    <a:p>
                      <a:pPr>
                        <a:defRPr sz="1400">
                          <a:solidFill>
                            <a:srgbClr val="212B36"/>
                          </a:solidFill>
                        </a:defRPr>
                      </a:pPr>
                      <a:r>
                        <a:t>Không kiểm chứng</a:t>
                      </a:r>
                    </a:p>
                  </a:txBody>
                  <a:tcPr>
                    <a:solidFill>
                      <a:srgbClr val="FFFFFF"/>
                    </a:solidFill>
                  </a:tcPr>
                </a:tc>
                <a:extLst>
                  <a:ext uri="{0D108BD9-81ED-4DB2-BD59-A6C34878D82A}">
                    <a16:rowId xmlns:a16="http://schemas.microsoft.com/office/drawing/2014/main" val="10001"/>
                  </a:ext>
                </a:extLst>
              </a:tr>
              <a:tr h="822960">
                <a:tc>
                  <a:txBody>
                    <a:bodyPr/>
                    <a:lstStyle/>
                    <a:p>
                      <a:pPr algn="ctr">
                        <a:defRPr sz="1400" b="1">
                          <a:solidFill>
                            <a:srgbClr val="212B36"/>
                          </a:solidFill>
                        </a:defRPr>
                      </a:pPr>
                      <a:r>
                        <a:t>Fake</a:t>
                      </a:r>
                    </a:p>
                  </a:txBody>
                  <a:tcPr>
                    <a:solidFill>
                      <a:srgbClr val="EEF2F6"/>
                    </a:solidFill>
                  </a:tcPr>
                </a:tc>
                <a:tc>
                  <a:txBody>
                    <a:bodyPr/>
                    <a:lstStyle/>
                    <a:p>
                      <a:pPr>
                        <a:defRPr sz="1400">
                          <a:solidFill>
                            <a:srgbClr val="212B36"/>
                          </a:solidFill>
                        </a:defRPr>
                      </a:pPr>
                      <a:r>
                        <a:t>Bản cài đặt hoạt động đơn giản hóa (ví dụ: In-memory Array DB để lưu nhanh dữ liệu).</a:t>
                      </a:r>
                    </a:p>
                  </a:txBody>
                  <a:tcPr>
                    <a:solidFill>
                      <a:srgbClr val="EEF2F6"/>
                    </a:solidFill>
                  </a:tcPr>
                </a:tc>
                <a:tc>
                  <a:txBody>
                    <a:bodyPr/>
                    <a:lstStyle/>
                    <a:p>
                      <a:pPr algn="ctr">
                        <a:defRPr sz="1400">
                          <a:solidFill>
                            <a:srgbClr val="212B36"/>
                          </a:solidFill>
                        </a:defRPr>
                      </a:pPr>
                      <a:r>
                        <a:t>Có (Đơn giản)</a:t>
                      </a:r>
                    </a:p>
                  </a:txBody>
                  <a:tcPr>
                    <a:solidFill>
                      <a:srgbClr val="EEF2F6"/>
                    </a:solidFill>
                  </a:tcPr>
                </a:tc>
                <a:tc>
                  <a:txBody>
                    <a:bodyPr/>
                    <a:lstStyle/>
                    <a:p>
                      <a:pPr>
                        <a:defRPr sz="1400">
                          <a:solidFill>
                            <a:srgbClr val="212B36"/>
                          </a:solidFill>
                        </a:defRPr>
                      </a:pPr>
                      <a:r>
                        <a:t>State Verification (Trạng thái)</a:t>
                      </a:r>
                    </a:p>
                  </a:txBody>
                  <a:tcPr>
                    <a:solidFill>
                      <a:srgbClr val="EEF2F6"/>
                    </a:solidFill>
                  </a:tcPr>
                </a:tc>
                <a:extLst>
                  <a:ext uri="{0D108BD9-81ED-4DB2-BD59-A6C34878D82A}">
                    <a16:rowId xmlns:a16="http://schemas.microsoft.com/office/drawing/2014/main" val="10002"/>
                  </a:ext>
                </a:extLst>
              </a:tr>
              <a:tr h="822960">
                <a:tc>
                  <a:txBody>
                    <a:bodyPr/>
                    <a:lstStyle/>
                    <a:p>
                      <a:pPr algn="ctr">
                        <a:defRPr sz="1400" b="1">
                          <a:solidFill>
                            <a:srgbClr val="212B36"/>
                          </a:solidFill>
                        </a:defRPr>
                      </a:pPr>
                      <a:r>
                        <a:t>Stub</a:t>
                      </a:r>
                    </a:p>
                  </a:txBody>
                  <a:tcPr>
                    <a:solidFill>
                      <a:srgbClr val="FFFFFF"/>
                    </a:solidFill>
                  </a:tcPr>
                </a:tc>
                <a:tc>
                  <a:txBody>
                    <a:bodyPr/>
                    <a:lstStyle/>
                    <a:p>
                      <a:pPr>
                        <a:defRPr sz="1400">
                          <a:solidFill>
                            <a:srgbClr val="212B36"/>
                          </a:solidFill>
                        </a:defRPr>
                      </a:pPr>
                      <a:r>
                        <a:t>Trả về giá trị cứng cố định để ép luồng chạy vào nhánh mong muốn (lỗi mạng, trùng lặp).</a:t>
                      </a:r>
                    </a:p>
                  </a:txBody>
                  <a:tcPr>
                    <a:solidFill>
                      <a:srgbClr val="FFFFFF"/>
                    </a:solidFill>
                  </a:tcPr>
                </a:tc>
                <a:tc>
                  <a:txBody>
                    <a:bodyPr/>
                    <a:lstStyle/>
                    <a:p>
                      <a:pPr algn="ctr">
                        <a:defRPr sz="1400">
                          <a:solidFill>
                            <a:srgbClr val="212B36"/>
                          </a:solidFill>
                        </a:defRPr>
                      </a:pPr>
                      <a:r>
                        <a:t>Không</a:t>
                      </a:r>
                    </a:p>
                  </a:txBody>
                  <a:tcPr>
                    <a:solidFill>
                      <a:srgbClr val="FFFFFF"/>
                    </a:solidFill>
                  </a:tcPr>
                </a:tc>
                <a:tc>
                  <a:txBody>
                    <a:bodyPr/>
                    <a:lstStyle/>
                    <a:p>
                      <a:pPr>
                        <a:defRPr sz="1400">
                          <a:solidFill>
                            <a:srgbClr val="212B36"/>
                          </a:solidFill>
                        </a:defRPr>
                      </a:pPr>
                      <a:r>
                        <a:t>State Verification (Trạng thái)</a:t>
                      </a:r>
                    </a:p>
                  </a:txBody>
                  <a:tcPr>
                    <a:solidFill>
                      <a:srgbClr val="FFFFFF"/>
                    </a:solidFill>
                  </a:tcPr>
                </a:tc>
                <a:extLst>
                  <a:ext uri="{0D108BD9-81ED-4DB2-BD59-A6C34878D82A}">
                    <a16:rowId xmlns:a16="http://schemas.microsoft.com/office/drawing/2014/main" val="10003"/>
                  </a:ext>
                </a:extLst>
              </a:tr>
              <a:tr h="822960">
                <a:tc>
                  <a:txBody>
                    <a:bodyPr/>
                    <a:lstStyle/>
                    <a:p>
                      <a:pPr algn="ctr">
                        <a:defRPr sz="1400" b="1">
                          <a:solidFill>
                            <a:srgbClr val="212B36"/>
                          </a:solidFill>
                        </a:defRPr>
                      </a:pPr>
                      <a:r>
                        <a:t>Mock</a:t>
                      </a:r>
                    </a:p>
                  </a:txBody>
                  <a:tcPr>
                    <a:solidFill>
                      <a:srgbClr val="EEF2F6"/>
                    </a:solidFill>
                  </a:tcPr>
                </a:tc>
                <a:tc>
                  <a:txBody>
                    <a:bodyPr/>
                    <a:lstStyle/>
                    <a:p>
                      <a:pPr>
                        <a:defRPr sz="1400">
                          <a:solidFill>
                            <a:srgbClr val="212B36"/>
                          </a:solidFill>
                        </a:defRPr>
                      </a:pPr>
                      <a:r>
                        <a:t>Đối tượng được cấu hình kỳ vọng sẵn để kiểm tra sự tương tác hành vi (gọi bao nhiêu lần, tham số gì).</a:t>
                      </a:r>
                    </a:p>
                  </a:txBody>
                  <a:tcPr>
                    <a:solidFill>
                      <a:srgbClr val="EEF2F6"/>
                    </a:solidFill>
                  </a:tcPr>
                </a:tc>
                <a:tc>
                  <a:txBody>
                    <a:bodyPr/>
                    <a:lstStyle/>
                    <a:p>
                      <a:pPr algn="ctr">
                        <a:defRPr sz="1400">
                          <a:solidFill>
                            <a:srgbClr val="212B36"/>
                          </a:solidFill>
                        </a:defRPr>
                      </a:pPr>
                      <a:r>
                        <a:t>Không / Có</a:t>
                      </a:r>
                    </a:p>
                  </a:txBody>
                  <a:tcPr>
                    <a:solidFill>
                      <a:srgbClr val="EEF2F6"/>
                    </a:solidFill>
                  </a:tcPr>
                </a:tc>
                <a:tc>
                  <a:txBody>
                    <a:bodyPr/>
                    <a:lstStyle/>
                    <a:p>
                      <a:pPr>
                        <a:defRPr sz="1400">
                          <a:solidFill>
                            <a:srgbClr val="212B36"/>
                          </a:solidFill>
                        </a:defRPr>
                      </a:pPr>
                      <a:r>
                        <a:t>Behavior Verification (Hành vi)</a:t>
                      </a:r>
                    </a:p>
                  </a:txBody>
                  <a:tcPr>
                    <a:solidFill>
                      <a:srgbClr val="EEF2F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8655" cy="731520"/>
          </a:xfrm>
          <a:prstGeom prst="rect">
            <a:avLst/>
          </a:prstGeom>
          <a:noFill/>
        </p:spPr>
        <p:txBody>
          <a:bodyPr wrap="square" lIns="0" tIns="0" rIns="0" bIns="0">
            <a:spAutoFit/>
          </a:bodyPr>
          <a:lstStyle/>
          <a:p>
            <a:pPr>
              <a:defRPr sz="3200" b="1">
                <a:solidFill>
                  <a:srgbClr val="212B36"/>
                </a:solidFill>
                <a:latin typeface="Segoe UI"/>
              </a:defRPr>
            </a:pPr>
            <a:r>
              <a:t>Chi Tiết: Dummy &amp; Fake</a:t>
            </a:r>
          </a:p>
        </p:txBody>
      </p:sp>
      <p:sp>
        <p:nvSpPr>
          <p:cNvPr id="4" name="Rectangle 3"/>
          <p:cNvSpPr/>
          <p:nvPr/>
        </p:nvSpPr>
        <p:spPr>
          <a:xfrm>
            <a:off x="731520" y="1188720"/>
            <a:ext cx="1371600" cy="36576"/>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645920"/>
            <a:ext cx="5120640" cy="4389120"/>
          </a:xfrm>
          <a:prstGeom prst="rect">
            <a:avLst/>
          </a:prstGeom>
          <a:solidFill>
            <a:srgbClr val="FFFFFF"/>
          </a:solidFill>
          <a:ln>
            <a:solidFill>
              <a:srgbClr val="DCE0E6"/>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1400"/>
              </a:spcAft>
              <a:defRPr sz="2000" b="1">
                <a:solidFill>
                  <a:srgbClr val="0066CC"/>
                </a:solidFill>
              </a:defRPr>
            </a:pPr>
            <a:r>
              <a:t>1. DUMMY (Bù nhìn)</a:t>
            </a:r>
          </a:p>
          <a:p>
            <a:pPr>
              <a:defRPr sz="1600">
                <a:solidFill>
                  <a:srgbClr val="212B36"/>
                </a:solidFill>
              </a:defRPr>
            </a:pPr>
            <a:r>
              <a:t>• Mô tả: Chỉ làm đầy danh sách đối số để tránh lỗi Null Pointer hoặc lỗi biên dịch.</a:t>
            </a:r>
            <a:br/>
            <a:br/>
            <a:r>
              <a:t>• Ví dụ: Logger rỗng khi viết test không ghi nhật ký:</a:t>
            </a:r>
            <a:br/>
            <a:r>
              <a:t>  `const dummyLogger = { log: () =&gt; {} };`</a:t>
            </a:r>
            <a:br/>
            <a:br/>
            <a:r>
              <a:t>• Vai trò: Giúp cô lập lỗi constructor và dọn dẹp log màn hình console test sạch sẽ.</a:t>
            </a:r>
          </a:p>
        </p:txBody>
      </p:sp>
      <p:sp>
        <p:nvSpPr>
          <p:cNvPr id="6" name="Rectangle 5"/>
          <p:cNvSpPr/>
          <p:nvPr/>
        </p:nvSpPr>
        <p:spPr>
          <a:xfrm>
            <a:off x="6309360" y="1645920"/>
            <a:ext cx="5120640" cy="4389120"/>
          </a:xfrm>
          <a:prstGeom prst="rect">
            <a:avLst/>
          </a:prstGeom>
          <a:solidFill>
            <a:srgbClr val="FFFFFF"/>
          </a:solidFill>
          <a:ln>
            <a:solidFill>
              <a:srgbClr val="DCE0E6"/>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1400"/>
              </a:spcAft>
              <a:defRPr sz="2000" b="1">
                <a:solidFill>
                  <a:srgbClr val="28A745"/>
                </a:solidFill>
              </a:defRPr>
            </a:pPr>
            <a:r>
              <a:t>2. FAKE (Giả lập hoạt động)</a:t>
            </a:r>
          </a:p>
          <a:p>
            <a:pPr>
              <a:defRPr sz="1600">
                <a:solidFill>
                  <a:srgbClr val="212B36"/>
                </a:solidFill>
              </a:defRPr>
            </a:pPr>
            <a:r>
              <a:t>• Mô tả: Bản giả lập chứa đầy đủ logic thực thi nhưng sử dụng thuật toán rút gọn chạy trong RAM.</a:t>
            </a:r>
            <a:br/>
            <a:br/>
            <a:r>
              <a:t>• Ví dụ: `FakeUserRepository` lưu trữ dữ liệu người dùng trực tiếp vào mảng: `this.users = []`.</a:t>
            </a:r>
            <a:br/>
            <a:br/>
            <a:r>
              <a:t>• Vai trò: Thay thế cơ sở dữ liệu thật chạy cực kỳ nhanh mà vẫn kiểm tra được các logic truy vấn cơ bản.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8655" cy="731520"/>
          </a:xfrm>
          <a:prstGeom prst="rect">
            <a:avLst/>
          </a:prstGeom>
          <a:noFill/>
        </p:spPr>
        <p:txBody>
          <a:bodyPr wrap="square" lIns="0" tIns="0" rIns="0" bIns="0">
            <a:spAutoFit/>
          </a:bodyPr>
          <a:lstStyle/>
          <a:p>
            <a:pPr>
              <a:defRPr sz="3200" b="1">
                <a:solidFill>
                  <a:srgbClr val="212B36"/>
                </a:solidFill>
                <a:latin typeface="Segoe UI"/>
              </a:defRPr>
            </a:pPr>
            <a:r>
              <a:t>Chi Tiết: Stub &amp; Mock</a:t>
            </a:r>
          </a:p>
        </p:txBody>
      </p:sp>
      <p:sp>
        <p:nvSpPr>
          <p:cNvPr id="4" name="Rectangle 3"/>
          <p:cNvSpPr/>
          <p:nvPr/>
        </p:nvSpPr>
        <p:spPr>
          <a:xfrm>
            <a:off x="731520" y="1188720"/>
            <a:ext cx="1371600" cy="36576"/>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645920"/>
            <a:ext cx="5120640" cy="4389120"/>
          </a:xfrm>
          <a:prstGeom prst="rect">
            <a:avLst/>
          </a:prstGeom>
          <a:solidFill>
            <a:srgbClr val="FFFFFF"/>
          </a:solidFill>
          <a:ln>
            <a:solidFill>
              <a:srgbClr val="DCE0E6"/>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1400"/>
              </a:spcAft>
              <a:defRPr sz="2000" b="1">
                <a:solidFill>
                  <a:srgbClr val="0066CC"/>
                </a:solidFill>
              </a:defRPr>
            </a:pPr>
            <a:r>
              <a:t>3. STUB (Giá trị định sẵn)</a:t>
            </a:r>
          </a:p>
          <a:p>
            <a:pPr>
              <a:defRPr sz="1600">
                <a:solidFill>
                  <a:srgbClr val="212B36"/>
                </a:solidFill>
              </a:defRPr>
            </a:pPr>
            <a:r>
              <a:t>• Mô tả: Trả về kết quả cứng cố định bất kể đầu vào để phục vụ một luồng nghiệp vụ nhất định.</a:t>
            </a:r>
            <a:br/>
            <a:br/>
            <a:r>
              <a:t>• Ví dụ: Trả về một user trùng lặp có sẵn để bắt buộc ứng dụng nhảy vào nhánh báo lỗi trùng email:</a:t>
            </a:r>
            <a:br/>
            <a:r>
              <a:t>  `findByEmail: () =&gt; ({ email: 'duplicate@mail.com' })`</a:t>
            </a:r>
            <a:br/>
            <a:br/>
            <a:r>
              <a:t>• Vai trò: Dễ dàng mô phỏng các ca ngoại lệ như mất mạng, hết số dư, lỗi kết nối DB.</a:t>
            </a:r>
          </a:p>
        </p:txBody>
      </p:sp>
      <p:sp>
        <p:nvSpPr>
          <p:cNvPr id="6" name="Rectangle 5"/>
          <p:cNvSpPr/>
          <p:nvPr/>
        </p:nvSpPr>
        <p:spPr>
          <a:xfrm>
            <a:off x="6309360" y="1645920"/>
            <a:ext cx="5120640" cy="4389120"/>
          </a:xfrm>
          <a:prstGeom prst="rect">
            <a:avLst/>
          </a:prstGeom>
          <a:solidFill>
            <a:srgbClr val="FFFFFF"/>
          </a:solidFill>
          <a:ln>
            <a:solidFill>
              <a:srgbClr val="DCE0E6"/>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1400"/>
              </a:spcAft>
              <a:defRPr sz="2000" b="1">
                <a:solidFill>
                  <a:srgbClr val="17A2B8"/>
                </a:solidFill>
              </a:defRPr>
            </a:pPr>
            <a:r>
              <a:t>4. MOCK (Giám sát hành vi)</a:t>
            </a:r>
          </a:p>
          <a:p>
            <a:pPr>
              <a:defRPr sz="1600">
                <a:solidFill>
                  <a:srgbClr val="212B36"/>
                </a:solidFill>
              </a:defRPr>
            </a:pPr>
            <a:r>
              <a:t>• Mô tả: Chứa bộ giám sát cuộc gọi để kiểm chứng (Assert) hành vi tương tác sau khi chạy test.</a:t>
            </a:r>
            <a:br/>
            <a:br/>
            <a:r>
              <a:t>• Ví dụ: Xác minh phương thức gửi email được gọi đúng 1 lần với địa chỉ email hợp lệ.</a:t>
            </a:r>
            <a:br/>
            <a:br/>
            <a:r>
              <a:t>• Vai trò: Đảm bảo luồng tương tác giữa các module diễn ra đúng theo thiết kế (ví dụ: không được gửi email thừa).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8655" cy="731520"/>
          </a:xfrm>
          <a:prstGeom prst="rect">
            <a:avLst/>
          </a:prstGeom>
          <a:noFill/>
        </p:spPr>
        <p:txBody>
          <a:bodyPr wrap="square" lIns="0" tIns="0" rIns="0" bIns="0">
            <a:spAutoFit/>
          </a:bodyPr>
          <a:lstStyle/>
          <a:p>
            <a:pPr>
              <a:defRPr sz="3200" b="1">
                <a:solidFill>
                  <a:srgbClr val="212B36"/>
                </a:solidFill>
                <a:latin typeface="Segoe UI"/>
              </a:defRPr>
            </a:pPr>
            <a:r>
              <a:t>Thiết Kế Ví Dụ Thực Tế: UserService</a:t>
            </a:r>
          </a:p>
        </p:txBody>
      </p:sp>
      <p:sp>
        <p:nvSpPr>
          <p:cNvPr id="4" name="Rectangle 3"/>
          <p:cNvSpPr/>
          <p:nvPr/>
        </p:nvSpPr>
        <p:spPr>
          <a:xfrm>
            <a:off x="731520" y="1188720"/>
            <a:ext cx="1371600" cy="36576"/>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645920"/>
            <a:ext cx="10728655" cy="4572000"/>
          </a:xfrm>
          <a:prstGeom prst="rect">
            <a:avLst/>
          </a:prstGeom>
          <a:noFill/>
        </p:spPr>
        <p:txBody>
          <a:bodyPr wrap="square">
            <a:spAutoFit/>
          </a:bodyPr>
          <a:lstStyle/>
          <a:p>
            <a:endParaRPr/>
          </a:p>
          <a:p>
            <a:pPr>
              <a:spcAft>
                <a:spcPts val="1200"/>
              </a:spcAft>
            </a:pPr>
            <a:r>
              <a:rPr sz="1800" b="1">
                <a:solidFill>
                  <a:srgbClr val="212B36"/>
                </a:solidFill>
                <a:latin typeface="Segoe UI"/>
              </a:rPr>
              <a:t>• Nghiệp vụ cốt lõi (SUT): </a:t>
            </a:r>
            <a:r>
              <a:rPr sz="1700">
                <a:solidFill>
                  <a:srgbClr val="637381"/>
                </a:solidFill>
                <a:latin typeface="Segoe UI"/>
              </a:rPr>
              <a:t>UserService thực hiện tính năng đăng ký tài khoản (registerUser).</a:t>
            </a:r>
          </a:p>
          <a:p>
            <a:pPr>
              <a:spcAft>
                <a:spcPts val="1200"/>
              </a:spcAft>
            </a:pPr>
            <a:r>
              <a:rPr sz="1800" b="1">
                <a:solidFill>
                  <a:srgbClr val="212B36"/>
                </a:solidFill>
                <a:latin typeface="Segoe UI"/>
              </a:rPr>
              <a:t>• Các phụ thuộc cần cô lập: </a:t>
            </a:r>
            <a:r>
              <a:rPr sz="1700">
                <a:solidFill>
                  <a:srgbClr val="637381"/>
                </a:solidFill>
                <a:latin typeface="Segoe UI"/>
              </a:rPr>
              <a:t>UserRepository (kết nối DB), EmailService (gửi mail), và Logger (ghi log).</a:t>
            </a:r>
          </a:p>
          <a:p>
            <a:pPr>
              <a:spcAft>
                <a:spcPts val="1200"/>
              </a:spcAft>
            </a:pPr>
            <a:r>
              <a:rPr sz="1800" b="1">
                <a:solidFill>
                  <a:srgbClr val="212B36"/>
                </a:solidFill>
                <a:latin typeface="Segoe UI"/>
              </a:rPr>
              <a:t>• Thiết kế tiêm phụ thuộc (Dependency Injection): </a:t>
            </a:r>
            <a:r>
              <a:rPr sz="1700">
                <a:solidFill>
                  <a:srgbClr val="637381"/>
                </a:solidFill>
                <a:latin typeface="Segoe UI"/>
              </a:rPr>
              <a:t>Các phụ thuộc được truyền trực tiếp qua constructor khi tạo UserService.</a:t>
            </a:r>
          </a:p>
          <a:p>
            <a:pPr>
              <a:spcAft>
                <a:spcPts val="1200"/>
              </a:spcAft>
            </a:pPr>
            <a:r>
              <a:rPr sz="1800" b="1">
                <a:solidFill>
                  <a:srgbClr val="212B36"/>
                </a:solidFill>
                <a:latin typeface="Segoe UI"/>
              </a:rPr>
              <a:t>• Triển khai bộ test thực tế (user.service.test.js): </a:t>
            </a:r>
            <a:r>
              <a:rPr sz="1700">
                <a:solidFill>
                  <a:srgbClr val="637381"/>
                </a:solidFill>
                <a:latin typeface="Segoe UI"/>
              </a:rPr>
              <a:t>Sử dụng Jest, thay thế các phụ thuộc thật bằng 4 loại Test Doubles: Dummy Logger, Fake DB mảng, Stub kiểm tra email trùng, và Mock Email Service.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8655" cy="731520"/>
          </a:xfrm>
          <a:prstGeom prst="rect">
            <a:avLst/>
          </a:prstGeom>
          <a:noFill/>
        </p:spPr>
        <p:txBody>
          <a:bodyPr wrap="square" lIns="0" tIns="0" rIns="0" bIns="0">
            <a:spAutoFit/>
          </a:bodyPr>
          <a:lstStyle/>
          <a:p>
            <a:pPr>
              <a:defRPr sz="3200" b="1">
                <a:solidFill>
                  <a:srgbClr val="212B36"/>
                </a:solidFill>
                <a:latin typeface="Segoe UI"/>
              </a:defRPr>
            </a:pPr>
            <a:r>
              <a:t>Kết Quả Và Đánh Giá Hiệu Quả Thực Tế</a:t>
            </a:r>
          </a:p>
        </p:txBody>
      </p:sp>
      <p:sp>
        <p:nvSpPr>
          <p:cNvPr id="4" name="Rectangle 3"/>
          <p:cNvSpPr/>
          <p:nvPr/>
        </p:nvSpPr>
        <p:spPr>
          <a:xfrm>
            <a:off x="731520" y="1188720"/>
            <a:ext cx="1371600" cy="36576"/>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828800"/>
            <a:ext cx="5120640" cy="2011680"/>
          </a:xfrm>
          <a:prstGeom prst="roundRect">
            <a:avLst/>
          </a:prstGeom>
          <a:solidFill>
            <a:srgbClr val="E6F5EB"/>
          </a:solidFill>
          <a:ln>
            <a:solidFill>
              <a:srgbClr val="28A74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28A745"/>
                </a:solidFill>
              </a:defRPr>
            </a:pPr>
            <a:r>
              <a:t>TỐC ĐỘ CHẠY TEST</a:t>
            </a:r>
          </a:p>
          <a:p>
            <a:pPr algn="ctr">
              <a:spcBef>
                <a:spcPts val="800"/>
              </a:spcBef>
              <a:defRPr sz="2800" b="1">
                <a:solidFill>
                  <a:srgbClr val="212B36"/>
                </a:solidFill>
              </a:defRPr>
            </a:pPr>
            <a:r>
              <a:t>13ms vs 5200ms</a:t>
            </a:r>
          </a:p>
          <a:p>
            <a:pPr algn="ctr">
              <a:defRPr sz="1300">
                <a:solidFill>
                  <a:srgbClr val="637381"/>
                </a:solidFill>
              </a:defRPr>
            </a:pPr>
            <a:r>
              <a:t>Tốc độ chạy test tăng hơn 400 lần so với kết nối CSDL và gửi mail thật.</a:t>
            </a:r>
          </a:p>
        </p:txBody>
      </p:sp>
      <p:sp>
        <p:nvSpPr>
          <p:cNvPr id="6" name="Rounded Rectangle 5"/>
          <p:cNvSpPr/>
          <p:nvPr/>
        </p:nvSpPr>
        <p:spPr>
          <a:xfrm>
            <a:off x="731520" y="4114800"/>
            <a:ext cx="5120640" cy="2011680"/>
          </a:xfrm>
          <a:prstGeom prst="roundRect">
            <a:avLst/>
          </a:prstGeom>
          <a:solidFill>
            <a:srgbClr val="FFF3E6"/>
          </a:solidFill>
          <a:ln>
            <a:solidFill>
              <a:srgbClr val="FD7E1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FD7E14"/>
                </a:solidFill>
              </a:defRPr>
            </a:pPr>
            <a:r>
              <a:t>TỶ LỆ CHẠY THÀNH CÔNG (STABILITY)</a:t>
            </a:r>
          </a:p>
          <a:p>
            <a:pPr algn="ctr">
              <a:spcBef>
                <a:spcPts val="800"/>
              </a:spcBef>
              <a:defRPr sz="2800" b="1">
                <a:solidFill>
                  <a:srgbClr val="212B36"/>
                </a:solidFill>
              </a:defRPr>
            </a:pPr>
            <a:r>
              <a:t>100% Ổn Định</a:t>
            </a:r>
          </a:p>
          <a:p>
            <a:pPr algn="ctr">
              <a:defRPr sz="1300">
                <a:solidFill>
                  <a:srgbClr val="637381"/>
                </a:solidFill>
              </a:defRPr>
            </a:pPr>
            <a:r>
              <a:t>Không bị ảnh hưởng bởi đường truyền mạng hay trạng thái DB ngoài.</a:t>
            </a:r>
          </a:p>
        </p:txBody>
      </p:sp>
      <p:sp>
        <p:nvSpPr>
          <p:cNvPr id="7" name="TextBox 6"/>
          <p:cNvSpPr txBox="1"/>
          <p:nvPr/>
        </p:nvSpPr>
        <p:spPr>
          <a:xfrm>
            <a:off x="6309360" y="1828800"/>
            <a:ext cx="5120640" cy="4297680"/>
          </a:xfrm>
          <a:prstGeom prst="rect">
            <a:avLst/>
          </a:prstGeom>
          <a:noFill/>
        </p:spPr>
        <p:txBody>
          <a:bodyPr wrap="square">
            <a:spAutoFit/>
          </a:bodyPr>
          <a:lstStyle/>
          <a:p>
            <a:pPr>
              <a:spcAft>
                <a:spcPts val="1400"/>
              </a:spcAft>
              <a:defRPr sz="2000" b="1">
                <a:solidFill>
                  <a:srgbClr val="212B36"/>
                </a:solidFill>
              </a:defRPr>
            </a:pPr>
            <a:r>
              <a:t>Đánh giá lợi ích chung:</a:t>
            </a:r>
          </a:p>
          <a:p>
            <a:pPr>
              <a:defRPr sz="1600">
                <a:solidFill>
                  <a:srgbClr val="212B36"/>
                </a:solidFill>
              </a:defRPr>
            </a:pPr>
            <a:r>
              <a:t>• Loại bỏ ô nhiễm dữ liệu: Không sinh dữ liệu rác trên DB chính của dự án.</a:t>
            </a:r>
            <a:br/>
            <a:br/>
            <a:r>
              <a:t>• Nâng cao Code Coverage: Dễ dàng viết test cho các kịch bản hiếm như lỗi CSDL đột ngột nhờ sử dụng Stub ném lỗi.</a:t>
            </a:r>
            <a:br/>
            <a:br/>
            <a:r>
              <a:t>• Phát triển song song (TDD): Có thể kiểm thử logic nghiệp vụ ngay cả khi cơ sở dữ liệu thật chưa được xây dựng.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728655" cy="731520"/>
          </a:xfrm>
          <a:prstGeom prst="rect">
            <a:avLst/>
          </a:prstGeom>
          <a:noFill/>
        </p:spPr>
        <p:txBody>
          <a:bodyPr wrap="square" lIns="0" tIns="0" rIns="0" bIns="0">
            <a:spAutoFit/>
          </a:bodyPr>
          <a:lstStyle/>
          <a:p>
            <a:pPr>
              <a:defRPr sz="3200" b="1">
                <a:solidFill>
                  <a:srgbClr val="212B36"/>
                </a:solidFill>
                <a:latin typeface="Segoe UI"/>
              </a:defRPr>
            </a:pPr>
            <a:r>
              <a:t>Hạn Chế &amp; Định Hướng Áp Dụng</a:t>
            </a:r>
          </a:p>
        </p:txBody>
      </p:sp>
      <p:sp>
        <p:nvSpPr>
          <p:cNvPr id="4" name="Rectangle 3"/>
          <p:cNvSpPr/>
          <p:nvPr/>
        </p:nvSpPr>
        <p:spPr>
          <a:xfrm>
            <a:off x="731520" y="1188720"/>
            <a:ext cx="1371600" cy="36576"/>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645920"/>
            <a:ext cx="10728655" cy="4572000"/>
          </a:xfrm>
          <a:prstGeom prst="rect">
            <a:avLst/>
          </a:prstGeom>
          <a:noFill/>
        </p:spPr>
        <p:txBody>
          <a:bodyPr wrap="square">
            <a:spAutoFit/>
          </a:bodyPr>
          <a:lstStyle/>
          <a:p>
            <a:endParaRPr/>
          </a:p>
          <a:p>
            <a:pPr>
              <a:spcAft>
                <a:spcPts val="1200"/>
              </a:spcAft>
            </a:pPr>
            <a:r>
              <a:rPr sz="1800" b="1">
                <a:solidFill>
                  <a:srgbClr val="212B36"/>
                </a:solidFill>
                <a:latin typeface="Segoe UI"/>
              </a:rPr>
              <a:t>• Hạn chế: Lỗi Interface Drift: </a:t>
            </a:r>
            <a:r>
              <a:rPr sz="1700">
                <a:solidFill>
                  <a:srgbClr val="637381"/>
                </a:solidFill>
                <a:latin typeface="Segoe UI"/>
              </a:rPr>
              <a:t>Nếu thay đổi cấu trúc hàm lớp thật mà quên cập nhật Test Double trong file test, unit test vẫn xanh nhưng app chạy thật sẽ crash.</a:t>
            </a:r>
          </a:p>
          <a:p>
            <a:pPr>
              <a:spcAft>
                <a:spcPts val="1200"/>
              </a:spcAft>
            </a:pPr>
            <a:r>
              <a:rPr sz="1800" b="1">
                <a:solidFill>
                  <a:srgbClr val="212B36"/>
                </a:solidFill>
                <a:latin typeface="Segoe UI"/>
              </a:rPr>
              <a:t>• Hạn chế: Over-mocking: </a:t>
            </a:r>
            <a:r>
              <a:rPr sz="1700">
                <a:solidFill>
                  <a:srgbClr val="637381"/>
                </a:solidFill>
                <a:latin typeface="Segoe UI"/>
              </a:rPr>
              <a:t>Cấu hình quá nhiều kỳ vọng chi tiết làm bài test bị liên kết chặt với code cài đặt, khó Refactor.</a:t>
            </a:r>
          </a:p>
          <a:p>
            <a:pPr>
              <a:spcAft>
                <a:spcPts val="1200"/>
              </a:spcAft>
            </a:pPr>
            <a:r>
              <a:rPr sz="1800" b="1">
                <a:solidFill>
                  <a:srgbClr val="212B36"/>
                </a:solidFill>
                <a:latin typeface="Segoe UI"/>
              </a:rPr>
              <a:t>• Kiến nghị: Thiết kế giao diện rõ ràng (Clean Architecture): </a:t>
            </a:r>
            <a:r>
              <a:rPr sz="1700">
                <a:solidFill>
                  <a:srgbClr val="637381"/>
                </a:solidFill>
                <a:latin typeface="Segoe UI"/>
              </a:rPr>
              <a:t>Sử dụng Interface và Dependency Injection để đảm bảo tính đồng bộ.</a:t>
            </a:r>
          </a:p>
          <a:p>
            <a:pPr>
              <a:spcAft>
                <a:spcPts val="1200"/>
              </a:spcAft>
            </a:pPr>
            <a:r>
              <a:rPr sz="1800" b="1">
                <a:solidFill>
                  <a:srgbClr val="212B36"/>
                </a:solidFill>
                <a:latin typeface="Segoe UI"/>
              </a:rPr>
              <a:t>• Định hướng mở rộng: Kết hợp Testcontainers: </a:t>
            </a:r>
            <a:r>
              <a:rPr sz="1700">
                <a:solidFill>
                  <a:srgbClr val="637381"/>
                </a:solidFill>
                <a:latin typeface="Segoe UI"/>
              </a:rPr>
              <a:t>Ở cấp độ Integration Test, kết hợp unit test mock với container Docker chạy CSDL thật để đảm bảo an toàn tuyệt đối.</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156915"/>
            <a:ext cx="10362895" cy="4654351"/>
          </a:xfrm>
          <a:prstGeom prst="rect">
            <a:avLst/>
          </a:prstGeom>
          <a:noFill/>
        </p:spPr>
        <p:txBody>
          <a:bodyPr wrap="square">
            <a:spAutoFit/>
          </a:bodyPr>
          <a:lstStyle/>
          <a:p>
            <a:pPr algn="ctr">
              <a:defRPr sz="3600" b="1">
                <a:solidFill>
                  <a:srgbClr val="FFFFFF"/>
                </a:solidFill>
                <a:latin typeface="Segoe UI"/>
              </a:defRPr>
            </a:pPr>
            <a:r>
              <a:rPr sz="10000"/>
              <a:t>CẢM ƠN</a:t>
            </a:r>
          </a:p>
          <a:p>
            <a:pPr algn="ctr">
              <a:lnSpc>
                <a:spcPct val="150000"/>
              </a:lnSpc>
            </a:pPr>
            <a:br/>
            <a:r>
              <a:rPr sz="2800">
                <a:solidFill>
                  <a:schemeClr val="bg1"/>
                </a:solidFill>
              </a:rPr>
              <a:t>Tài liệu tham khảo:</a:t>
            </a:r>
          </a:p>
          <a:p>
            <a:pPr algn="ctr">
              <a:lnSpc>
                <a:spcPct val="150000"/>
              </a:lnSpc>
              <a:spcBef>
                <a:spcPts val="800"/>
              </a:spcBef>
              <a:defRPr sz="1400">
                <a:solidFill>
                  <a:srgbClr val="ADB5BD"/>
                </a:solidFill>
                <a:latin typeface="Segoe UI"/>
              </a:defRPr>
            </a:pPr>
            <a:r>
              <a:rPr sz="2800"/>
              <a:t>1. Gerard Meszaros - xUnit Test Patterns (2007)</a:t>
            </a:r>
            <a:br>
              <a:rPr sz="2800"/>
            </a:br>
            <a:r>
              <a:rPr sz="2800"/>
              <a:t>2. Robert C. Martin - Clean Code (2008)</a:t>
            </a:r>
            <a:br>
              <a:rPr sz="2800"/>
            </a:br>
            <a:r>
              <a:rPr sz="2800"/>
              <a:t>3. Martin Fowler - Mocks Aren't Stubs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53</TotalTime>
  <Words>1252</Words>
  <Application>Microsoft Office PowerPoint</Application>
  <PresentationFormat>Widescreen</PresentationFormat>
  <Paragraphs>72</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Segoe UI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đức tú vũ</cp:lastModifiedBy>
  <cp:revision>5</cp:revision>
  <dcterms:created xsi:type="dcterms:W3CDTF">2013-01-27T09:14:16Z</dcterms:created>
  <dcterms:modified xsi:type="dcterms:W3CDTF">2026-06-21T14:57:50Z</dcterms:modified>
  <cp:category/>
</cp:coreProperties>
</file>